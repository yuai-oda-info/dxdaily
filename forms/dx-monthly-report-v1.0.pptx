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対象月・報告部署・報告日を書き換え、「今月の結論を1行で」に、経営会議に一番伝えたいことを一文で入れます。忙しい役員が表紙だけ見ても要点が分かる状態にしておきます。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国の施策ごとに自院の状況を「対応済・準備中・未着手」で示し、期限と次のマイルストーンを読み上げます。右の「今月動いたこと」で、先月からの進捗を3つまでに絞って伝えます。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つの数字（脆弱性対応・バックアップ・教育訓練・インシデント）を先に読み上げ、異常がなければ「問題なし」と短く伝えます。下段のチェックリスト到達状況は、未対応項目と対応予定時期まで示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補助金は「締切・状況・金額」の3点を表で示し、右の枠で7日以内に締切が来るものを強調します。判断が必要なものは次のスライド（来月の判断事項）に送ります。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経営会議に決めてほしいことを3件までに絞り、選択肢・費用・期限・推奨案をセットで示します。最後に「承認・保留・差戻し」のどれかを、その場で確認して記録します。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91456"/>
            <a:ext cx="8229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0879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91456"/>
            <a:ext cx="8229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0879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14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医療DX月次報告　YYYY年M月（記入）　／　情報システム（記入）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38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　報告資料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医療DX月次報告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67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対象月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（記入）YYYY年M月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246120" y="2194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67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報告部署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情報システム（記入）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1945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F667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報告日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4505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（記入）YYYY/MM/DD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8046720" cy="1554480"/>
          </a:xfrm>
          <a:prstGeom prst="roundRect">
            <a:avLst>
              <a:gd name="adj" fmla="val 4706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38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今月の結論を1行で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4564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（記入）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502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（例）電子処方箋は YYYY年MM月 稼働で確定。サイバーセキュリティ対策チェックリストは期限内に提出済み。補助金1件の申請可否について、本日ご判断をお願いしたい。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91456"/>
            <a:ext cx="8229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0879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14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医療DX月次報告　YYYY年M月（記入）　／　情報システム（記入）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対応状況｜国の医療DX施策への自院の対応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68680"/>
                <a:gridCol w="187452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施策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自院の状況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期限・次のマイルストーン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オンライン資格確認・マイナ保険証利用率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（例）対応済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（例）利用率 ○％（前月比 +○pt）／目標 ○％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（例）医事課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電子処方箋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（例）準備中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（例）YYYY/MM 運用開始予定／薬局との接続確認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（例）薬剤部・情報システム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電子カルテ情報共有サービス（3文書6情報）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（例）未着手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（例）ベンダー見積 YYYY/MM／導入時期の判断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（例）情報システム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標準型電子カルテ／電子カルテの標準化対応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（例）準備中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（例）現行契約満了 YYYY/MM／更新方針の決定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（例）情報システム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サイバーセキュリティ対策チェックリスト（令和8年度版）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（例）準備中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（例）提出期限 YYYY/MM/DD／未対応 ○項目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（例）情報システム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4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介護情報基盤・ケアプランデータ連携（該当施設）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（例）該当なし／未着手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（例）該当施設の確認／ベンダー対応状況の確認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（例）居宅・施設担当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06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状況の記入ルール：対応済／準備中／未着手（対象外の施策は「該当なし」）。期限欄には次のマイルストーンの日付と内容を記入。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6217920" y="914400"/>
            <a:ext cx="2468880" cy="3172968"/>
          </a:xfrm>
          <a:prstGeom prst="roundRect">
            <a:avLst>
              <a:gd name="adj" fmla="val 2963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55080" y="1005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38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今月動いたこと（3つまで）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3716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　（記入）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（例）マイナ保険証の窓口案内を開始。利用率が前月比 +○pt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22585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　（記入）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（例）電子処方箋のベンダー接続テストを完了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314553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　（記入）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（例）チェックリストの自己点検を実施。未対応 ○項目を洗い出し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91456"/>
            <a:ext cx="8229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0879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14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医療DX月次報告　YYYY年M月（記入）　／　情報システム（記入）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セキュリティ｜今月の対策状況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42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脆弱性対応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今月の対策件数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572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0879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3件</a:t>
            </a:r>
            <a:pPr indent="0" marL="0"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（例）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未対応件数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14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879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（例）1件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249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（例）緊急パッチ 2件・定期更新 1件。未対応分は次回メンテナンス日に適用予定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0" y="9144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97480" y="1042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バックアップ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最終復元テスト日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1572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0879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9/12</a:t>
            </a:r>
            <a:pPr indent="0" marL="0"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（例）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414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879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（例）復元成功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27249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（例）所要 2時間。対象：電子カルテ・部門システム。次回テスト予定 YYYY/MM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1042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教育・訓練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00600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受講率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1572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0879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92％</a:t>
            </a:r>
            <a:pPr indent="0" marL="0"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（例）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実施日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2414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879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（例）9/5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00600" y="27249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（例）標的型メール訓練（全職員対象）。開封率 8％、未受講者は再案内中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66560" y="9144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10424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インシデント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135331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今月の件数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157276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0879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0件</a:t>
            </a:r>
            <a:pPr indent="0" marL="0"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（例）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414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0879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（例）該当なし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03720" y="27249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（例）ヒヤリ事例：USB 持出し 1件（情報漏えいなし）。再発防止策を周知済み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3456432"/>
            <a:ext cx="82296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38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チェックリスト到達状況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206240" y="354787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サイバーセキュリティ対策チェックリスト（令和8年度版）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94360" y="3822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全（記入）項目中（記入）項目が「はい」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577840" y="3822192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提出期限：（記入）YYYY/MM/DD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94360" y="42428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（例）全 30 項目中 26 項目が「はい」。残り 4 項目（EDR 導入、オフラインバックアップ等）は次月までに対応予定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91456"/>
            <a:ext cx="8229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0879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14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医療DX月次報告　YYYY年M月（記入）　／　情報システム（記入）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補助金・締切｜申請状況と直近の期限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48640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1005840"/>
                <a:gridCol w="1051560"/>
                <a:gridCol w="8686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制度名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締切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状況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補助見込額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（例）電子処方箋 導入補助（医療情報化支援基金）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（例）10/15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（例）申請予定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（例）○○万円（補助率 1/2）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（例）情報システム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（例）サイバーセキュリティ対策 補助（都道府県事業）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（例）9/30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（例）申請済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（例）○○万円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（例）情報システム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（例）電子カルテ情報共有サービス 導入補助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（例）11/28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（例）見送り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（例）—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（例）事務部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状況：申請予定／申請済／採択／不採択／見送り。金額は補助見込額（補助率・上限額があれば併記）。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3429000"/>
            <a:ext cx="5486400" cy="109728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520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38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根拠・備考（通知・事務連絡など）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80390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（記入）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08736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（例）都道府県からの事務連絡（YYYY/MM/DD 受領）に基づく。申請様式・添付書類は情報システムで保管。不採択の場合は次年度公募で再申請を検討。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17920" y="914400"/>
            <a:ext cx="2468880" cy="3611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9050">
            <a:solidFill>
              <a:srgbClr val="12A3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1024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38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今月の締切（7日以内）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　（記入）制度・提出物名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締切：YYYY/MM/DD　担当：（記入）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（例）チェックリスト提出　9/30（残り 3日）　情報システム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423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　（記入）制度・提出物名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締切：YYYY/MM/DD　担当：（記入）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（例）補助金 実績報告書　10/3（残り 6日）　事務部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　（記入）制度・提出物名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締切：YYYY/MM/DD　担当：（記入）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（例）該当なし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91456"/>
            <a:ext cx="8229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0879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791456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87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医療DX月次報告　YYYY年M月（記入）　／　情報システム（記入）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4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来月の判断事項｜決めていただきたいこと（3件まで）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920240"/>
                <a:gridCol w="1920240"/>
                <a:gridCol w="1005840"/>
                <a:gridCol w="173736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判断事項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選択肢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費用・効果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期限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推奨案</a:t>
                      </a:r>
                      <a:endParaRPr lang="en-US" sz="9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7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（例）電子処方箋の運用開始時期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（例）A：YYYY年MM月に開始／B：翌年度に延期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（例）初期費用 ○○万円（補助 1/2）。運用負荷は薬剤部で吸収可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（例）YYYY/MM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（例）A案（補助金の申請期限に間に合う）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（例）電子カルテ更新方針（標準化対応）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（例）A：現行ベンダーで更新／B：標準型電子カルテの動向を待つ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（例）5年総額 ○○万円。標準化対応の保証範囲を要確認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（例）YYYY/MM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（例）A案で見積比較を継続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（例）サイバー対策の追加投資（EDR 導入）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（例）A：全端末に導入／B：サーバのみ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（例）年額 ○○万円。チェックリスト 3項目が「はい」に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（例）YYYY/MM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0879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（例）A案（補助対象）</a:t>
                      </a:r>
                      <a:endParaRPr lang="en-US" sz="9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36576" marB="36576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456432"/>
            <a:ext cx="8229600" cy="1207008"/>
          </a:xfrm>
          <a:prstGeom prst="roundRect">
            <a:avLst>
              <a:gd name="adj" fmla="val 6061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5295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38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承認をお願いする事項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0" y="3529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会議での決定を右欄にチェック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81304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　</a:t>
            </a:r>
            <a:pPr indent="0" marL="0">
              <a:buNone/>
            </a:pPr>
            <a:r>
              <a:rPr lang="en-US" sz="10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（記入）判断事項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381304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 承認　　☐ 保留　　☐ 差戻し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4078224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　</a:t>
            </a:r>
            <a:pPr indent="0" marL="0">
              <a:buNone/>
            </a:pPr>
            <a:r>
              <a:rPr lang="en-US" sz="10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（記入）判断事項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407822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 承認　　☐ 保留　　☐ 差戻し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3434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6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　</a:t>
            </a:r>
            <a:pPr indent="0" marL="0">
              <a:buNone/>
            </a:pPr>
            <a:r>
              <a:rPr lang="en-US" sz="10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（記入）判断事項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4343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63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☐ 承認　　☐ 保留　　☐ 差戻し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863840" y="4791456"/>
            <a:ext cx="82296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850">
                <a:solidFill>
                  <a:srgbClr val="808791"/>
                </a:solidFill>
                <a:latin typeface="Yu Gothic"/>
                <a:ea typeface="Yu Gothic"/>
                <a:cs typeface="Yu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医療DX月次報告（ひな形 v1.0）</dc:title>
  <dc:subject>PptxGenJS Presentation</dc:subject>
  <dc:creator>情報システム</dc:creator>
  <cp:lastModifiedBy>情報システム</cp:lastModifiedBy>
  <cp:revision>1</cp:revision>
  <dcterms:created xsi:type="dcterms:W3CDTF">2026-09-27T06:26:33Z</dcterms:created>
  <dcterms:modified xsi:type="dcterms:W3CDTF">2026-09-27T06:26:33Z</dcterms:modified>
</cp:coreProperties>
</file>